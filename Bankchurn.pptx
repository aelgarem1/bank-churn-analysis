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282" r:id="rId6"/>
    <p:sldId id="314" r:id="rId7"/>
    <p:sldId id="315" r:id="rId8"/>
    <p:sldId id="317" r:id="rId9"/>
    <p:sldId id="323" r:id="rId10"/>
    <p:sldId id="324" r:id="rId11"/>
    <p:sldId id="325" r:id="rId12"/>
    <p:sldId id="326" r:id="rId13"/>
    <p:sldId id="318" r:id="rId14"/>
    <p:sldId id="321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AAC4E9"/>
    <a:srgbClr val="FDFBF6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1042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68483-CEAB-3211-15AE-417643CAB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14362-B784-D15B-2791-A9B988BF5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27215-6AFA-B9ED-900B-1028F5FAD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42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6D20-E010-279A-E193-2DECB289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BE7B8-1427-8704-7DEF-FB389C935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6327C-7DA6-77E0-39AD-99252297E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860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4EE0-5291-3FF0-8D53-A04E1725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CD4DE-266E-4961-1AED-0BA936788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D5B32-BC80-EB5C-2F37-69E792A1C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32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673D-3804-9406-7509-1069224E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B3E0F-4B64-D439-F3F5-C62071706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DB44-4C35-C7A4-FF5D-87A78C00D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463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nk-churn-analysis-kx6urd5sufmajswcx6mdvo.streamlit.app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b="0" dirty="0"/>
              <a:t>Bank Customer Churn Analysis</a:t>
            </a:r>
            <a:br>
              <a:rPr lang="en-US" b="0" dirty="0"/>
            </a:br>
            <a:r>
              <a:rPr lang="en-US" sz="2400" b="0" dirty="0"/>
              <a:t>epsilon ai mid-project</a:t>
            </a:r>
            <a:br>
              <a:rPr lang="en-US" dirty="0"/>
            </a:br>
            <a:br>
              <a:rPr lang="en-US" dirty="0"/>
            </a:br>
            <a:r>
              <a:rPr lang="en-US" sz="2000" i="1" dirty="0"/>
              <a:t>By amira </a:t>
            </a:r>
            <a:r>
              <a:rPr lang="en-US" sz="2000" i="1" dirty="0" err="1"/>
              <a:t>el-garem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Identify the patterns that contribute to customer churn.</a:t>
            </a:r>
          </a:p>
          <a:p>
            <a:r>
              <a:rPr lang="en-US" dirty="0"/>
              <a:t>Build an interactive dashboard for exploration and insights.</a:t>
            </a:r>
          </a:p>
          <a:p>
            <a:r>
              <a:rPr lang="en-US" dirty="0"/>
              <a:t>Generate actionable recommendations to improve retention.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1040467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DF88834-2529-19EF-3E27-3B1082DD9A81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4364038" y="2371269"/>
            <a:ext cx="689727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Contains 10,000 records, 14 columns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Features include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Demographics: Age, Gender, Geography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Financials: Balance, Credit Score, Estimated Salary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Engagement: Tenure, Number of Products, Credit Card status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Target: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Exited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 (1 = churned, 0 = stayed)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Sabon Next LT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Eda &amp; FEATURE ENG.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TenureGroup</a:t>
            </a:r>
            <a:r>
              <a:rPr lang="en-US" dirty="0"/>
              <a:t>: New, Mid-term, Long-term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BalanceSalaryRatio</a:t>
            </a:r>
            <a:r>
              <a:rPr lang="en-US" dirty="0"/>
              <a:t>: Balance / (Estimated Salary + 1)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AgeGroup</a:t>
            </a:r>
            <a:r>
              <a:rPr lang="en-US" dirty="0"/>
              <a:t>: Young (&lt;30), Adult (30–50), Senior (&gt;50)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73B2BF-0A47-B156-47B1-ED25ADAB46E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1272" y="2303028"/>
            <a:ext cx="341860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202C8F"/>
                </a:solidFill>
                <a:latin typeface="Sabon Next LT (Body)"/>
              </a:rPr>
              <a:t>Data Exploration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Sabon Next LT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dirty="0">
              <a:solidFill>
                <a:srgbClr val="202C8F"/>
              </a:solidFill>
              <a:latin typeface="Sabon Next LT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Wrong data types </a:t>
            </a:r>
            <a:r>
              <a:rPr lang="en-US" altLang="en-US" dirty="0">
                <a:solidFill>
                  <a:srgbClr val="202C8F"/>
                </a:solidFill>
                <a:latin typeface="Sabon Next LT (Body)"/>
              </a:rPr>
              <a:t>for bin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ary columns and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NumOfProducts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” column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Verified no missing values and </a:t>
            </a:r>
            <a:r>
              <a:rPr lang="en-US" altLang="en-US" dirty="0">
                <a:solidFill>
                  <a:srgbClr val="202C8F"/>
                </a:solidFill>
                <a:latin typeface="Sabon Next LT (Body)"/>
              </a:rPr>
              <a:t> inconsistent values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Sabon Next LT (Body)"/>
              </a:rPr>
              <a:t>Outliers detected in Balance Column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Analysis Questions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990609" cy="824201"/>
          </a:xfrm>
        </p:spPr>
        <p:txBody>
          <a:bodyPr>
            <a:normAutofit/>
          </a:bodyPr>
          <a:lstStyle/>
          <a:p>
            <a:r>
              <a:rPr lang="en-US" b="1" dirty="0"/>
              <a:t>What is the distribution of churned vs non-churned customers?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CC61E-B46C-130F-EDFA-9491F4C33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86" t="15149"/>
          <a:stretch>
            <a:fillRect/>
          </a:stretch>
        </p:blipFill>
        <p:spPr>
          <a:xfrm>
            <a:off x="1693719" y="2715563"/>
            <a:ext cx="5216237" cy="2308274"/>
          </a:xfrm>
          <a:prstGeom prst="rect">
            <a:avLst/>
          </a:prstGeom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9DE5C990-65B8-F4D1-F3F9-AE86FF7B8B45}"/>
              </a:ext>
            </a:extLst>
          </p:cNvPr>
          <p:cNvSpPr txBox="1">
            <a:spLocks/>
          </p:cNvSpPr>
          <p:nvPr/>
        </p:nvSpPr>
        <p:spPr>
          <a:xfrm>
            <a:off x="914398" y="5261408"/>
            <a:ext cx="7990609" cy="82420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With a </a:t>
            </a:r>
            <a:r>
              <a:rPr lang="en-US" b="1" dirty="0"/>
              <a:t>20% churn rate</a:t>
            </a:r>
            <a:r>
              <a:rPr lang="en-US" dirty="0"/>
              <a:t>, the situation is </a:t>
            </a:r>
            <a:r>
              <a:rPr lang="en-US" b="1" dirty="0"/>
              <a:t>manageable</a:t>
            </a:r>
            <a:r>
              <a:rPr lang="en-US" dirty="0"/>
              <a:t> but warrants proactive strategies to retain at-risk customers.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5A6B-3EA5-0B58-A69B-57BEFD4B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35D46E-1597-EC01-7D1B-DAFE165E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Analysis Questions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E5C3DC9-5592-BE45-6CC8-16B3605909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990609" cy="8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What is the relationship between Age and Balance for churned customers?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26161-28FC-5935-3453-1A278B98E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3F0CDF7-5900-4F7B-4938-9ED8E0935AAC}"/>
              </a:ext>
            </a:extLst>
          </p:cNvPr>
          <p:cNvSpPr txBox="1">
            <a:spLocks/>
          </p:cNvSpPr>
          <p:nvPr/>
        </p:nvSpPr>
        <p:spPr>
          <a:xfrm>
            <a:off x="914398" y="5673508"/>
            <a:ext cx="7990609" cy="82420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While there is </a:t>
            </a:r>
            <a:r>
              <a:rPr lang="en-US" b="1" dirty="0"/>
              <a:t>no clear relationship between age and balance</a:t>
            </a:r>
            <a:r>
              <a:rPr lang="en-US" dirty="0"/>
              <a:t>, churn rates are </a:t>
            </a:r>
            <a:r>
              <a:rPr lang="en-US" b="1" dirty="0"/>
              <a:t>significantly higher</a:t>
            </a:r>
            <a:r>
              <a:rPr lang="en-US" dirty="0"/>
              <a:t> for customers aged </a:t>
            </a:r>
            <a:r>
              <a:rPr lang="en-US" b="1" dirty="0"/>
              <a:t>40 to 70 </a:t>
            </a:r>
            <a:r>
              <a:rPr lang="en-US" dirty="0"/>
              <a:t>making them critical focus segments for retention.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DFFE1D-88B8-FEC4-B2FC-E8F78B7C8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18" y="2601739"/>
            <a:ext cx="8546109" cy="288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7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3F07-5E2D-1ED3-0B60-33CBF902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625C3A-FEAC-740A-65E2-F2BC863E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Analysis Questions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A0EE0DC4-1D23-ED24-80B0-CA25D1E40F2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990609" cy="8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How does customer churn rate vary across different number of products?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295C0-1A4A-9F68-2103-C0574D117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F407F1F2-20EE-7689-BE67-92C6C48B6377}"/>
              </a:ext>
            </a:extLst>
          </p:cNvPr>
          <p:cNvSpPr txBox="1">
            <a:spLocks/>
          </p:cNvSpPr>
          <p:nvPr/>
        </p:nvSpPr>
        <p:spPr>
          <a:xfrm>
            <a:off x="914398" y="5673508"/>
            <a:ext cx="7990609" cy="82420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57A5F-F0C7-9740-8B70-5137FA017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12" y="2596214"/>
            <a:ext cx="8478979" cy="2924894"/>
          </a:xfrm>
          <a:prstGeom prst="rect">
            <a:avLst/>
          </a:prstGeom>
        </p:spPr>
      </p:pic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4B14F130-79C0-9A91-BB12-FE96B24F122D}"/>
              </a:ext>
            </a:extLst>
          </p:cNvPr>
          <p:cNvSpPr txBox="1">
            <a:spLocks/>
          </p:cNvSpPr>
          <p:nvPr/>
        </p:nvSpPr>
        <p:spPr>
          <a:xfrm>
            <a:off x="1066798" y="5825908"/>
            <a:ext cx="7990609" cy="82420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17D29-5111-47E3-92F6-0436BAE123CE}"/>
              </a:ext>
            </a:extLst>
          </p:cNvPr>
          <p:cNvSpPr txBox="1"/>
          <p:nvPr/>
        </p:nvSpPr>
        <p:spPr>
          <a:xfrm>
            <a:off x="1285875" y="5521108"/>
            <a:ext cx="6104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C8F"/>
                </a:solidFill>
              </a:rPr>
              <a:t>Churn is high among customers with only one product  suggesting low engagement/ dissatisfaction. It also rises when customers hold more than two products possibly due to complexity or lack of perceived value.</a:t>
            </a:r>
          </a:p>
        </p:txBody>
      </p:sp>
    </p:spTree>
    <p:extLst>
      <p:ext uri="{BB962C8B-B14F-4D97-AF65-F5344CB8AC3E}">
        <p14:creationId xmlns:p14="http://schemas.microsoft.com/office/powerpoint/2010/main" val="400399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07E6-FD0C-1732-D84E-A600748F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FC7A15-01B9-FBD8-854B-DD7701A0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Analysis Questions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19190748-9511-36BC-4B3B-83DABBDE91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4"/>
            <a:ext cx="7990608" cy="429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How Does Customer Balance Vary Across Regions and Churn Status?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3A6A-559E-38AA-7B5E-893872880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DF777DB-24EB-25DC-96D8-C0617BF405EF}"/>
              </a:ext>
            </a:extLst>
          </p:cNvPr>
          <p:cNvSpPr txBox="1">
            <a:spLocks/>
          </p:cNvSpPr>
          <p:nvPr/>
        </p:nvSpPr>
        <p:spPr>
          <a:xfrm>
            <a:off x="914398" y="5673508"/>
            <a:ext cx="7990609" cy="82420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08146CD-0D5A-A81D-802B-0EAF275A65E1}"/>
              </a:ext>
            </a:extLst>
          </p:cNvPr>
          <p:cNvSpPr txBox="1">
            <a:spLocks/>
          </p:cNvSpPr>
          <p:nvPr/>
        </p:nvSpPr>
        <p:spPr>
          <a:xfrm>
            <a:off x="1066798" y="5825908"/>
            <a:ext cx="7990609" cy="82420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6E4A53-699C-C284-E4F7-31AFA6596266}"/>
              </a:ext>
            </a:extLst>
          </p:cNvPr>
          <p:cNvSpPr txBox="1"/>
          <p:nvPr/>
        </p:nvSpPr>
        <p:spPr>
          <a:xfrm>
            <a:off x="1285875" y="5521108"/>
            <a:ext cx="61046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02C8F"/>
                </a:solidFill>
              </a:rPr>
              <a:t>German customers</a:t>
            </a:r>
            <a:r>
              <a:rPr lang="en-US" dirty="0">
                <a:solidFill>
                  <a:srgbClr val="202C8F"/>
                </a:solidFill>
              </a:rPr>
              <a:t> have the </a:t>
            </a:r>
            <a:r>
              <a:rPr lang="en-US" b="1" dirty="0">
                <a:solidFill>
                  <a:srgbClr val="202C8F"/>
                </a:solidFill>
              </a:rPr>
              <a:t>highest balances</a:t>
            </a:r>
            <a:r>
              <a:rPr lang="en-US" dirty="0">
                <a:solidFill>
                  <a:srgbClr val="202C8F"/>
                </a:solidFill>
              </a:rPr>
              <a:t>, but </a:t>
            </a:r>
            <a:r>
              <a:rPr lang="en-US" b="1" dirty="0">
                <a:solidFill>
                  <a:srgbClr val="202C8F"/>
                </a:solidFill>
              </a:rPr>
              <a:t>balance does not influence churn, suggesting retention strategies should not rely on financial metrics alone.</a:t>
            </a:r>
            <a:endParaRPr lang="en-US" dirty="0">
              <a:solidFill>
                <a:srgbClr val="202C8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739EB-3721-EE81-3AB8-A9F697FA2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5" y="2618996"/>
            <a:ext cx="8717973" cy="297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6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FAEDD-A670-FF7D-AAB8-477055A1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A85368-85B8-8E7C-39EF-5030DDAD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Analysis Questions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B5E154DA-FA6C-A389-7745-BFFCD581B43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4"/>
            <a:ext cx="8506688" cy="4293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5.  How Does the Number of Products Relate to Mean Customer Balance and Churn?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25EB2-A570-1BE5-3FC5-E63F7070AC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6F3DE3B-A1EF-76CC-D278-5539A74A5540}"/>
              </a:ext>
            </a:extLst>
          </p:cNvPr>
          <p:cNvSpPr txBox="1">
            <a:spLocks/>
          </p:cNvSpPr>
          <p:nvPr/>
        </p:nvSpPr>
        <p:spPr>
          <a:xfrm>
            <a:off x="1066798" y="5825908"/>
            <a:ext cx="7990609" cy="82420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C0DA3-E717-13BA-1FB4-208A5D8D7CC9}"/>
              </a:ext>
            </a:extLst>
          </p:cNvPr>
          <p:cNvSpPr txBox="1"/>
          <p:nvPr/>
        </p:nvSpPr>
        <p:spPr>
          <a:xfrm>
            <a:off x="808758" y="5455766"/>
            <a:ext cx="8506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C8F"/>
                </a:solidFill>
              </a:rPr>
              <a:t>Non-churned customers, on the other hand, show a decrease in average balance as the number of products increases implying that Non-churned customers with more products are possibly more financially active, using bundled services that reduce their liquid balance (e.g., due to loan repayments or fund transfers).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C1223-CA38-1AD0-3004-10BD89017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09" y="2629986"/>
            <a:ext cx="9313718" cy="299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4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399" y="2331791"/>
            <a:ext cx="8582891" cy="3721817"/>
          </a:xfrm>
        </p:spPr>
        <p:txBody>
          <a:bodyPr/>
          <a:lstStyle/>
          <a:p>
            <a:r>
              <a:rPr lang="en-US" i="1" dirty="0"/>
              <a:t>If this project were to continue into machine learning, I prepared the data accordingly:</a:t>
            </a:r>
          </a:p>
          <a:p>
            <a:endParaRPr lang="en-US" i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 split the dataset into training and testing sets.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Applied </a:t>
            </a:r>
            <a:r>
              <a:rPr lang="en-US" b="1" dirty="0" err="1"/>
              <a:t>RobustScaler</a:t>
            </a:r>
            <a:r>
              <a:rPr lang="en-US" dirty="0"/>
              <a:t> to numerical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Encoded categorical features using </a:t>
            </a:r>
            <a:r>
              <a:rPr lang="en-US" dirty="0" err="1"/>
              <a:t>OneHotEncoding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And to address class imbalance, I used </a:t>
            </a:r>
            <a:r>
              <a:rPr lang="en-US" b="1" dirty="0"/>
              <a:t>SMOTE</a:t>
            </a:r>
            <a:r>
              <a:rPr lang="en-US" dirty="0"/>
              <a:t>, which generates synthetic data for the minority class.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Recommendations 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9785918" cy="3380799"/>
          </a:xfrm>
        </p:spPr>
        <p:txBody>
          <a:bodyPr>
            <a:normAutofit/>
          </a:bodyPr>
          <a:lstStyle/>
          <a:p>
            <a:r>
              <a:rPr lang="en-US" dirty="0"/>
              <a:t>Target At-Risk Age Groups: Implement personalized retention campaigns for customers aged 40–70.</a:t>
            </a:r>
          </a:p>
          <a:p>
            <a:r>
              <a:rPr lang="en-US" dirty="0"/>
              <a:t>Address dissatisfaction among customers with only 1 product or more than 2 products. Consider simplifying complex bundles and improving perceived value.</a:t>
            </a:r>
          </a:p>
          <a:p>
            <a:r>
              <a:rPr lang="en-US" dirty="0"/>
              <a:t>Boost Engagement for Single-Product Holders: Proactively offer cross-sell opportunities or value bundles to customers with only one product.</a:t>
            </a:r>
          </a:p>
          <a:p>
            <a:r>
              <a:rPr lang="en-US" dirty="0"/>
              <a:t>Use engagement indicators to identify and reward active users.</a:t>
            </a:r>
          </a:p>
          <a:p>
            <a:r>
              <a:rPr lang="en-US" dirty="0"/>
              <a:t>Target inactive customers with reactivation incentives.</a:t>
            </a:r>
          </a:p>
          <a:p>
            <a:r>
              <a:rPr lang="en-US" dirty="0"/>
              <a:t>Customers with multiple products who churn may not perceive value—use satisfaction metrics or exit feedback to refine offerings.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13606"/>
            <a:ext cx="6764481" cy="2234642"/>
          </a:xfrm>
        </p:spPr>
        <p:txBody>
          <a:bodyPr>
            <a:normAutofit/>
          </a:bodyPr>
          <a:lstStyle/>
          <a:p>
            <a:r>
              <a:rPr lang="en-US" b="1" dirty="0"/>
              <a:t>🔗 Access</a:t>
            </a:r>
            <a:endParaRPr lang="en-US" dirty="0"/>
          </a:p>
          <a:p>
            <a:r>
              <a:rPr lang="en-US" dirty="0"/>
              <a:t>🌐 </a:t>
            </a:r>
            <a:r>
              <a:rPr lang="en-US" dirty="0" err="1"/>
              <a:t>Streamlit</a:t>
            </a:r>
            <a:r>
              <a:rPr lang="en-US" dirty="0"/>
              <a:t> App: </a:t>
            </a:r>
            <a:r>
              <a:rPr lang="en-US" i="1" dirty="0">
                <a:hlinkClick r:id="rId3"/>
              </a:rPr>
              <a:t>https://bank-churn-analysis-kx6urd5sufmajswcx6mdvo.streamlit.app/</a:t>
            </a:r>
            <a:endParaRPr lang="en-US" i="1" dirty="0"/>
          </a:p>
          <a:p>
            <a:r>
              <a:rPr lang="en-US" dirty="0"/>
              <a:t>📁 GitHub Repository: https://github.com/aelgarem1/Bank-Churn-Analysis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{7A1624C5-2AEE-42FB-A009-CA2E037B5EDB}TF8a9b5915-b8c7-461e-8cdd-693d48b5e32371f7b7e2_win32-4bf0b9a2ea37</Template>
  <TotalTime>6053</TotalTime>
  <Words>589</Words>
  <Application>Microsoft Office PowerPoint</Application>
  <PresentationFormat>Widescreen</PresentationFormat>
  <Paragraphs>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Sabon Next LT</vt:lpstr>
      <vt:lpstr>Sabon Next LT (Body)</vt:lpstr>
      <vt:lpstr>Wingdings</vt:lpstr>
      <vt:lpstr>Custom</vt:lpstr>
      <vt:lpstr>Bank Customer Churn Analysis epsilon ai mid-project  By amira el-garem</vt:lpstr>
      <vt:lpstr>Project objective</vt:lpstr>
      <vt:lpstr>Dataset overview</vt:lpstr>
      <vt:lpstr>Eda &amp; FEATURE ENG.</vt:lpstr>
      <vt:lpstr>Analysis Questions </vt:lpstr>
      <vt:lpstr>Analysis Questions </vt:lpstr>
      <vt:lpstr>Analysis Questions </vt:lpstr>
      <vt:lpstr>Analysis Questions </vt:lpstr>
      <vt:lpstr>Analysis Questions </vt:lpstr>
      <vt:lpstr>Data Preprocessing</vt:lpstr>
      <vt:lpstr>Recommendations 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amira aly</dc:creator>
  <cp:lastModifiedBy>amira aly</cp:lastModifiedBy>
  <cp:revision>7</cp:revision>
  <dcterms:created xsi:type="dcterms:W3CDTF">2025-06-14T06:05:59Z</dcterms:created>
  <dcterms:modified xsi:type="dcterms:W3CDTF">2025-06-18T11:56:38Z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